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" ContentType="image/web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96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grogestion-web.vercel.app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Juanfrina/Agrogestion.Web" TargetMode="External"/><Relationship Id="rId4" Type="http://schemas.openxmlformats.org/officeDocument/2006/relationships/hyperlink" Target="https://agrogestion-web.vercel.app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eb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anfrina/Agrogestion.Web" TargetMode="External"/><Relationship Id="rId5" Type="http://schemas.openxmlformats.org/officeDocument/2006/relationships/hyperlink" Target="https://agrogestion-web.vercel.app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B0A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640080"/>
            <a:ext cx="256032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457200"/>
            <a:ext cx="5577840" cy="420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8" name="Text 4"/>
          <p:cNvSpPr/>
          <p:nvPr/>
        </p:nvSpPr>
        <p:spPr>
          <a:xfrm>
            <a:off x="502920" y="594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Agrogestión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50292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la Gestión Agrícola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02920" y="1874520"/>
            <a:ext cx="50292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" y="19933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— CFGS DAW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23774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Juan Francisco Hurtado Pérez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IES Albarregas, Mérida (España)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Curso 2024/2025 – 2025/2026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3520440"/>
            <a:ext cx="5029200" cy="502920"/>
          </a:xfrm>
          <a:prstGeom prst="rect">
            <a:avLst/>
          </a:prstGeom>
          <a:solidFill>
            <a:srgbClr val="D4A017">
              <a:alpha val="85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02920" y="3520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 ·  Sostenibilidad  ·  Productividad</a:t>
            </a:r>
            <a:endParaRPr lang="en-US" sz="1300" dirty="0"/>
          </a:p>
        </p:txBody>
      </p:sp>
      <p:sp>
        <p:nvSpPr>
          <p:cNvPr id="15" name="Text 11">
            <a:hlinkClick r:id="rId5"/>
          </p:cNvPr>
          <p:cNvSpPr/>
          <p:nvPr/>
        </p:nvSpPr>
        <p:spPr>
          <a:xfrm>
            <a:off x="502920" y="4160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agrogestion-web.vercel.app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la Presentación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por el proyecto Agrogestión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14800" cy="621792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96012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Motivación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4114800" cy="621792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19072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190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1719072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4114800" cy="621792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78024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7802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2478024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4114800" cy="621792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36976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3697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3236976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Base de Datos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4114800" cy="621792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95928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9592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4128" y="399592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Funcionalidades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960120"/>
            <a:ext cx="4114800" cy="621792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960120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96012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3248" y="96012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 i18n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1719072"/>
            <a:ext cx="4114800" cy="621792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719072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7190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13248" y="1719072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Responsive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2478024"/>
            <a:ext cx="4114800" cy="621792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478024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47802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13248" y="2478024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3236976"/>
            <a:ext cx="4114800" cy="621792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236976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23697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13248" y="3236976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Documentación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46320" y="3995928"/>
            <a:ext cx="4114800" cy="621792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3995928"/>
            <a:ext cx="502920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99592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13248" y="399592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y 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Motivación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existe Agrogestión?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329184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E64A1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El Problema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explotaciones agrícolas sigue dependiendo de: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Papel y notas manuales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Llamadas y WhatsApp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Sin trazabilidad ni historial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herramienta sencilla que digitalice la coordinación entre gerentes, capataces y trabajadores del campo.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329184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Solución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Agrogestión es una aplicación web (SPA) que permite: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Organizar terrenos agrícolas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  Crear y asignar tareas con ciclo de vida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Coordinar equipos jerárquicos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Comunicación y notificaciones en tiempo real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desde el navegador, sin instalar nada.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Público objetivo: Explotaciones agrícolas de mediano tamaño con múltiples trabajadores y niveles de responsabilidad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objetivos específicos — todos cumplidos ✅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9601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moderna con React 19 + TypeScript 5.9 + Vite 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54864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960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22392" y="9601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 con 4 niveles de roles jerárquicos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892808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892808"/>
            <a:ext cx="54864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92808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552" y="18928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 de terrenos y tareas (6 estados)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892808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892808"/>
            <a:ext cx="54864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892808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22392" y="18928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notificaciones internas y por email automático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25496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25496"/>
            <a:ext cx="54864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825496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7552" y="282549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Internacionalización en 3 idiomas (ES / EN / RO)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825496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825496"/>
            <a:ext cx="54864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825496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22392" y="282549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 para cualquier dispositivo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758184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58184"/>
            <a:ext cx="54864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58184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7552" y="375818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 (Vercel) accesible globalmente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758184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758184"/>
            <a:ext cx="54864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758184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422392" y="375818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 nivel de fila en base de datos (RLS)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frameworks seleccionados para Agrogestión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600200" cy="356616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6002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60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React 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12140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TypeScript 5.9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77977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Vite 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438144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Tailwind CSS 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39112" y="960120"/>
            <a:ext cx="1600200" cy="3566160"/>
          </a:xfrm>
          <a:prstGeom prst="rect">
            <a:avLst/>
          </a:prstGeom>
          <a:solidFill>
            <a:srgbClr val="6A1B9A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960120"/>
            <a:ext cx="1600200" cy="38404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2039112" y="960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146304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🐻 Zustand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12140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React Router 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77977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React Hook Form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58184" y="960120"/>
            <a:ext cx="1600200" cy="3566160"/>
          </a:xfrm>
          <a:prstGeom prst="rect">
            <a:avLst/>
          </a:prstGeom>
          <a:solidFill>
            <a:srgbClr val="1B5E2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960120"/>
            <a:ext cx="1600200" cy="3840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3758184" y="960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22192" y="146304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Supabase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22192" y="212140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PostgreSQL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277977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RLS + RPC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22192" y="3438144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pg_net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77256" y="960120"/>
            <a:ext cx="1600200" cy="3566160"/>
          </a:xfrm>
          <a:prstGeom prst="rect">
            <a:avLst/>
          </a:prstGeom>
          <a:solidFill>
            <a:srgbClr val="B71C1C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960120"/>
            <a:ext cx="1600200" cy="3840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8" name="Text 26"/>
          <p:cNvSpPr/>
          <p:nvPr/>
        </p:nvSpPr>
        <p:spPr>
          <a:xfrm>
            <a:off x="5477256" y="960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/ Email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41264" y="146304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i18next (ES/EN/RO)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41264" y="212140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Brevo 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41264" y="277977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Triggers PostgreSQL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96328" y="960120"/>
            <a:ext cx="1600200" cy="3566160"/>
          </a:xfrm>
          <a:prstGeom prst="rect">
            <a:avLst/>
          </a:prstGeom>
          <a:solidFill>
            <a:srgbClr val="E6510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96328" y="960120"/>
            <a:ext cx="160020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4" name="Text 32"/>
          <p:cNvSpPr/>
          <p:nvPr/>
        </p:nvSpPr>
        <p:spPr>
          <a:xfrm>
            <a:off x="7196328" y="960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60336" y="146304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Vercel (CI/CD)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60336" y="212140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0336" y="277977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Git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con Repository Pattern — separación clara de capas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960120"/>
            <a:ext cx="5029200" cy="5943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960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Navegador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22192" y="1554480"/>
            <a:ext cx="36576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5727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1691640"/>
            <a:ext cx="5029200" cy="59436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16916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→ Componentes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22192" y="2286000"/>
            <a:ext cx="36576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3042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423160"/>
            <a:ext cx="5029200" cy="59436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24231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 (41 componentes)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22192" y="3017520"/>
            <a:ext cx="36576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0358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3154680"/>
            <a:ext cx="5029200" cy="594360"/>
          </a:xfrm>
          <a:prstGeom prst="rect">
            <a:avLst/>
          </a:prstGeom>
          <a:solidFill>
            <a:srgbClr val="5D40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31546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API (Auth + DB + RLS + RPC)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22192" y="3749040"/>
            <a:ext cx="36576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767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3886200"/>
            <a:ext cx="5029200" cy="594360"/>
          </a:xfrm>
          <a:prstGeom prst="rect">
            <a:avLst/>
          </a:prstGeom>
          <a:solidFill>
            <a:srgbClr val="4A148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71600" y="3886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Triggers + pg_net + Brevo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914400"/>
            <a:ext cx="22402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9144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Puntos clave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1325880"/>
            <a:ext cx="54864" cy="4754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6839712" y="13075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NUNCA habla directamente con Supabase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1947672"/>
            <a:ext cx="54864" cy="4754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6839712" y="192938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pasa por repositorios centralizados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2569464"/>
            <a:ext cx="54864" cy="4754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/>
          <p:nvPr/>
        </p:nvSpPr>
        <p:spPr>
          <a:xfrm>
            <a:off x="6839712" y="255117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+ bcrypt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191256"/>
            <a:ext cx="54864" cy="4754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3" name="Text 31"/>
          <p:cNvSpPr/>
          <p:nvPr/>
        </p:nvSpPr>
        <p:spPr>
          <a:xfrm>
            <a:off x="6839712" y="3172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RLS por rol en cada tabla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3813048"/>
            <a:ext cx="54864" cy="4754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5" name="Text 33"/>
          <p:cNvSpPr/>
          <p:nvPr/>
        </p:nvSpPr>
        <p:spPr>
          <a:xfrm>
            <a:off x="6839712" y="3794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RPC para operaciones complejas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tablas · 4 roles · RLS en todas las tablas · Triggers automáticos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600200" cy="658368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3327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39112" y="960120"/>
            <a:ext cx="1600200" cy="658368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39112" y="96012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2039112" y="103327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58184" y="960120"/>
            <a:ext cx="1600200" cy="658368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58184" y="96012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3758184" y="103327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77256" y="960120"/>
            <a:ext cx="1600200" cy="658368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7256" y="96012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5477256" y="103327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estados_tarea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96328" y="960120"/>
            <a:ext cx="1600200" cy="658368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96328" y="96012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7196328" y="103327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783080"/>
            <a:ext cx="1600200" cy="658368"/>
          </a:xfrm>
          <a:prstGeom prst="rect">
            <a:avLst/>
          </a:prstGeom>
          <a:solidFill>
            <a:srgbClr val="5D403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178308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185623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gerente_capataz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39112" y="1783080"/>
            <a:ext cx="1600200" cy="658368"/>
          </a:xfrm>
          <a:prstGeom prst="rect">
            <a:avLst/>
          </a:prstGeom>
          <a:solidFill>
            <a:srgbClr val="5D403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39112" y="178308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2039112" y="185623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capataz_trabajador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58184" y="1783080"/>
            <a:ext cx="1600200" cy="658368"/>
          </a:xfrm>
          <a:prstGeom prst="rect">
            <a:avLst/>
          </a:prstGeom>
          <a:solidFill>
            <a:srgbClr val="5D403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58184" y="178308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3758184" y="185623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tarea_trabajador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77256" y="1783080"/>
            <a:ext cx="1600200" cy="658368"/>
          </a:xfrm>
          <a:prstGeom prst="rect">
            <a:avLst/>
          </a:prstGeom>
          <a:solidFill>
            <a:srgbClr val="5D403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77256" y="178308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5477256" y="185623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comentarios_tarea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96328" y="1783080"/>
            <a:ext cx="1600200" cy="658368"/>
          </a:xfrm>
          <a:prstGeom prst="rect">
            <a:avLst/>
          </a:prstGeom>
          <a:solidFill>
            <a:srgbClr val="5D403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6328" y="1783080"/>
            <a:ext cx="1600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5" name="Text 33"/>
          <p:cNvSpPr/>
          <p:nvPr/>
        </p:nvSpPr>
        <p:spPr>
          <a:xfrm>
            <a:off x="7196328" y="185623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2724912"/>
            <a:ext cx="8503920" cy="2926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272491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Ciclo de Vida de una Tarea (6 estados)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3081528"/>
            <a:ext cx="1325880" cy="502920"/>
          </a:xfrm>
          <a:prstGeom prst="rect">
            <a:avLst/>
          </a:prstGeom>
          <a:solidFill>
            <a:srgbClr val="78909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0040" y="308152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645920" y="3081528"/>
            <a:ext cx="100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746504" y="3081528"/>
            <a:ext cx="1325880" cy="50292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746504" y="308152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072384" y="3081528"/>
            <a:ext cx="100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172968" y="3081528"/>
            <a:ext cx="1325880" cy="502920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172968" y="308152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Aceptada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98848" y="3081528"/>
            <a:ext cx="100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99432" y="3081528"/>
            <a:ext cx="1325880" cy="502920"/>
          </a:xfrm>
          <a:prstGeom prst="rect">
            <a:avLst/>
          </a:prstGeom>
          <a:solidFill>
            <a:srgbClr val="E6510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99432" y="308152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25312" y="3081528"/>
            <a:ext cx="100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025896" y="3081528"/>
            <a:ext cx="1325880" cy="502920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025896" y="308152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52360" y="3081528"/>
            <a:ext cx="1325880" cy="502920"/>
          </a:xfrm>
          <a:prstGeom prst="rect">
            <a:avLst/>
          </a:prstGeom>
          <a:solidFill>
            <a:srgbClr val="B71C1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452360" y="308152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374904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57200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5720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 todas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560320" y="374904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560320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256032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663440" y="374904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63440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466344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 crear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766560" y="374904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766560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676656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 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Funcionalidades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niveles jerárquicos con permisos diferenciados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011680" cy="68580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34416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" y="1719072"/>
            <a:ext cx="45720" cy="5029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700784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gráficos globales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" y="2423160"/>
            <a:ext cx="45720" cy="5029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240487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 de usuarios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3127248"/>
            <a:ext cx="45720" cy="5029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310896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roles y estados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" y="3831336"/>
            <a:ext cx="45720" cy="5029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381304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distribución de roles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9601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960120"/>
            <a:ext cx="2011680" cy="6858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👔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468880" y="134416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42032" y="1719072"/>
            <a:ext cx="457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2633472" y="1700784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terrenos (CRUD)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42032" y="2423160"/>
            <a:ext cx="457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5" name="Text 23"/>
          <p:cNvSpPr/>
          <p:nvPr/>
        </p:nvSpPr>
        <p:spPr>
          <a:xfrm>
            <a:off x="2633472" y="240487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asignar tareas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42032" y="3127248"/>
            <a:ext cx="457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7" name="Text 25"/>
          <p:cNvSpPr/>
          <p:nvPr/>
        </p:nvSpPr>
        <p:spPr>
          <a:xfrm>
            <a:off x="2633472" y="310896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equipo de capataces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42032" y="3831336"/>
            <a:ext cx="457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2633472" y="381304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métricas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9601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960120"/>
            <a:ext cx="2011680" cy="68580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🦺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617720" y="134416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Capataz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90872" y="1719072"/>
            <a:ext cx="45720" cy="50292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5" name="Text 33"/>
          <p:cNvSpPr/>
          <p:nvPr/>
        </p:nvSpPr>
        <p:spPr>
          <a:xfrm>
            <a:off x="4782312" y="1700784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Aceptar/rechazar tareas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90872" y="2423160"/>
            <a:ext cx="45720" cy="50292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240487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estado de tareas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90872" y="3127248"/>
            <a:ext cx="45720" cy="50292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9" name="Text 37"/>
          <p:cNvSpPr/>
          <p:nvPr/>
        </p:nvSpPr>
        <p:spPr>
          <a:xfrm>
            <a:off x="4782312" y="310896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trabajadores de apoyo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90872" y="3831336"/>
            <a:ext cx="45720" cy="50292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1" name="Text 39"/>
          <p:cNvSpPr/>
          <p:nvPr/>
        </p:nvSpPr>
        <p:spPr>
          <a:xfrm>
            <a:off x="4782312" y="381304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Notificaciones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9601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960120"/>
            <a:ext cx="201168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🧑‍🌾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766560" y="134416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39712" y="1719072"/>
            <a:ext cx="457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7" name="Text 45"/>
          <p:cNvSpPr/>
          <p:nvPr/>
        </p:nvSpPr>
        <p:spPr>
          <a:xfrm>
            <a:off x="6931152" y="1700784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tareas asignadas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39712" y="2423160"/>
            <a:ext cx="457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9" name="Text 47"/>
          <p:cNvSpPr/>
          <p:nvPr/>
        </p:nvSpPr>
        <p:spPr>
          <a:xfrm>
            <a:off x="6931152" y="240487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Aceptar/rechazar asignaciones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39712" y="3127248"/>
            <a:ext cx="457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1" name="Text 49"/>
          <p:cNvSpPr/>
          <p:nvPr/>
        </p:nvSpPr>
        <p:spPr>
          <a:xfrm>
            <a:off x="6931152" y="310896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comentarios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39712" y="3831336"/>
            <a:ext cx="457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3" name="Text 51"/>
          <p:cNvSpPr/>
          <p:nvPr/>
        </p:nvSpPr>
        <p:spPr>
          <a:xfrm>
            <a:off x="6931152" y="381304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Notificaciones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457200" y="1572768"/>
            <a:ext cx="3886200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Sistema de Notificaciones</a:t>
            </a:r>
            <a:endParaRPr lang="es-ES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i="1" noProof="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internas + Email automático vía </a:t>
            </a:r>
            <a:r>
              <a:rPr lang="es-ES" sz="1200" i="1" noProof="0" dirty="0" err="1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r>
              <a:rPr lang="es-ES" sz="1200" i="1" noProof="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PostgreSQL</a:t>
            </a:r>
            <a:endParaRPr lang="es-ES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s-ES" sz="9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6576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43891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Notificaciones Internas</a:t>
            </a:r>
            <a:endParaRPr lang="es-ES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🔴 Campanita con contador de no leídas</a:t>
            </a:r>
            <a:endParaRPr lang="es-ES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3886200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📋 Modal con historial completo</a:t>
            </a:r>
            <a:endParaRPr lang="es-ES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886200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Marcar como leídas (individual o todas)</a:t>
            </a:r>
            <a:endParaRPr lang="es-ES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3886200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502920" y="33284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⏱️ Actualización automática cada 30 segundos</a:t>
            </a:r>
            <a:endParaRPr lang="es-ES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3886200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📌 Acceso desde cualquier pantalla (</a:t>
            </a:r>
            <a:r>
              <a:rPr lang="es-ES" sz="12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r>
              <a:rPr lang="es-ES" sz="1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114800" cy="36576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114800" cy="43891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Automático</a:t>
            </a:r>
            <a:endParaRPr lang="es-ES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4754880" y="1554480"/>
            <a:ext cx="3931920" cy="594360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3" name="Text 21"/>
          <p:cNvSpPr/>
          <p:nvPr/>
        </p:nvSpPr>
        <p:spPr>
          <a:xfrm>
            <a:off x="4773168" y="15544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🗄️</a:t>
            </a:r>
            <a:endParaRPr lang="es-E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5257800" y="155448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creada</a:t>
            </a:r>
            <a:r>
              <a:rPr lang="es-ES" sz="1100" noProof="0" dirty="0"/>
              <a:t> </a:t>
            </a:r>
            <a:r>
              <a:rPr lang="es-ES" sz="11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 base de datos</a:t>
            </a:r>
            <a:endParaRPr lang="es-ES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6446520" y="21488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noProof="0" dirty="0">
                <a:solidFill>
                  <a:srgbClr val="D4A017"/>
                </a:solidFill>
              </a:rPr>
              <a:t>▼</a:t>
            </a:r>
            <a:endParaRPr lang="es-ES" sz="1200" noProof="0" dirty="0"/>
          </a:p>
        </p:txBody>
      </p:sp>
      <p:sp>
        <p:nvSpPr>
          <p:cNvPr id="26" name="Shape 24"/>
          <p:cNvSpPr/>
          <p:nvPr/>
        </p:nvSpPr>
        <p:spPr>
          <a:xfrm>
            <a:off x="4754880" y="2304288"/>
            <a:ext cx="3931920" cy="594360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7" name="Text 25"/>
          <p:cNvSpPr/>
          <p:nvPr/>
        </p:nvSpPr>
        <p:spPr>
          <a:xfrm>
            <a:off x="4773168" y="230428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⚡</a:t>
            </a:r>
            <a:endParaRPr lang="es-ES" sz="2000" noProof="0" dirty="0"/>
          </a:p>
        </p:txBody>
      </p:sp>
      <p:sp>
        <p:nvSpPr>
          <p:cNvPr id="28" name="Text 26"/>
          <p:cNvSpPr/>
          <p:nvPr/>
        </p:nvSpPr>
        <p:spPr>
          <a:xfrm>
            <a:off x="5257800" y="230428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Trigger PostgreSQL</a:t>
            </a:r>
            <a:r>
              <a:rPr lang="es-ES" sz="1100" noProof="0" dirty="0"/>
              <a:t> </a:t>
            </a:r>
            <a:r>
              <a:rPr lang="es-ES" sz="11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 activa automáticamente</a:t>
            </a:r>
            <a:endParaRPr lang="es-ES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6446520" y="2898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noProof="0" dirty="0">
                <a:solidFill>
                  <a:srgbClr val="D4A017"/>
                </a:solidFill>
              </a:rPr>
              <a:t>▼</a:t>
            </a:r>
            <a:endParaRPr lang="es-ES" sz="1200" noProof="0" dirty="0"/>
          </a:p>
        </p:txBody>
      </p:sp>
      <p:sp>
        <p:nvSpPr>
          <p:cNvPr id="30" name="Shape 28"/>
          <p:cNvSpPr/>
          <p:nvPr/>
        </p:nvSpPr>
        <p:spPr>
          <a:xfrm>
            <a:off x="4754880" y="3054096"/>
            <a:ext cx="3931920" cy="594360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1" name="Text 29"/>
          <p:cNvSpPr/>
          <p:nvPr/>
        </p:nvSpPr>
        <p:spPr>
          <a:xfrm>
            <a:off x="4773168" y="305409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🌐</a:t>
            </a:r>
            <a:endParaRPr lang="es-ES" sz="2000" noProof="0" dirty="0"/>
          </a:p>
        </p:txBody>
      </p:sp>
      <p:sp>
        <p:nvSpPr>
          <p:cNvPr id="32" name="Text 30"/>
          <p:cNvSpPr/>
          <p:nvPr/>
        </p:nvSpPr>
        <p:spPr>
          <a:xfrm>
            <a:off x="5257800" y="305409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pg_net</a:t>
            </a:r>
            <a:r>
              <a:rPr lang="es-ES" sz="11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realiza</a:t>
            </a:r>
            <a:r>
              <a:rPr lang="es-ES" sz="1100" noProof="0" dirty="0"/>
              <a:t> </a:t>
            </a:r>
            <a:r>
              <a:rPr lang="es-ES" sz="11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r>
              <a:rPr lang="es-ES" sz="11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HTTP a Brevo API</a:t>
            </a:r>
            <a:endParaRPr lang="es-ES" sz="1100" noProof="0" dirty="0"/>
          </a:p>
        </p:txBody>
      </p:sp>
      <p:sp>
        <p:nvSpPr>
          <p:cNvPr id="33" name="Text 31"/>
          <p:cNvSpPr/>
          <p:nvPr/>
        </p:nvSpPr>
        <p:spPr>
          <a:xfrm>
            <a:off x="6446520" y="364845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noProof="0" dirty="0">
                <a:solidFill>
                  <a:srgbClr val="D4A017"/>
                </a:solidFill>
              </a:rPr>
              <a:t>▼</a:t>
            </a:r>
            <a:endParaRPr lang="es-ES" sz="1200" noProof="0" dirty="0"/>
          </a:p>
        </p:txBody>
      </p:sp>
      <p:sp>
        <p:nvSpPr>
          <p:cNvPr id="34" name="Shape 32"/>
          <p:cNvSpPr/>
          <p:nvPr/>
        </p:nvSpPr>
        <p:spPr>
          <a:xfrm>
            <a:off x="4754880" y="3803904"/>
            <a:ext cx="3931920" cy="594360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5" name="Text 33"/>
          <p:cNvSpPr/>
          <p:nvPr/>
        </p:nvSpPr>
        <p:spPr>
          <a:xfrm>
            <a:off x="4773168" y="38039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📬</a:t>
            </a:r>
            <a:endParaRPr lang="es-ES" sz="2000" noProof="0" dirty="0"/>
          </a:p>
        </p:txBody>
      </p:sp>
      <p:sp>
        <p:nvSpPr>
          <p:cNvPr id="36" name="Text 34"/>
          <p:cNvSpPr/>
          <p:nvPr/>
        </p:nvSpPr>
        <p:spPr>
          <a:xfrm>
            <a:off x="5257800" y="38039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Email estilizado</a:t>
            </a:r>
            <a:r>
              <a:rPr lang="es-ES" sz="1100" noProof="0" dirty="0"/>
              <a:t> </a:t>
            </a:r>
            <a:r>
              <a:rPr lang="es-ES" sz="11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 botón de acceso directo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Internacionalización (i18n)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idiomas · Selector accesible · i18next con JSON files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2560320" cy="228600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🇪🇸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0" y="1005840"/>
            <a:ext cx="2560320" cy="228600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🇬🇧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560320" cy="2286000"/>
          </a:xfrm>
          <a:prstGeom prst="rect">
            <a:avLst/>
          </a:prstGeom>
          <a:solidFill>
            <a:srgbClr val="B71C1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🇷🇴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Română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493008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493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" y="34930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completamente traducidos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493008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493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30368" y="34930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en el idioma activo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95928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995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🔘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3995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Botones, labels y alertas traducidos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995928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3995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30368" y="3995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JSON de traducciones por idioma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498848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4498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1248" y="44988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idioma accesible desde header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498848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4498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30368" y="44988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idioma sin recargar la página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capas de protección — frontend y backend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94360" cy="7772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6012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30759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Supabase Auth, tokens JWT y hashing bcrypt de contraseñas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60120"/>
            <a:ext cx="594360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96012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9601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40680" y="130759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 todas las tablas PostgreSQL — cada usuario solo ve y modifica lo suyo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01952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01952"/>
            <a:ext cx="594360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1901952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19019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DEFINER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2249424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para romper recursión en políticas RLS sin comprometer seguridad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901952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901952"/>
            <a:ext cx="594360" cy="7772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901952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40680" y="19019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protegidas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40680" y="2249424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 + PublicRoute en el frontend según rol del usuario autenticado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843784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43784"/>
            <a:ext cx="594360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843784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0120" y="28437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tiempo real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60120" y="3191256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DNI, teléfono y contraseña validados antes de enviar al servidor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2843784"/>
            <a:ext cx="4251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843784"/>
            <a:ext cx="594360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843784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40680" y="28437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contraseña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40680" y="3191256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segura por email con resetPasswordForEmail de Supabase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14600" y="3785616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14600" y="3785616"/>
            <a:ext cx="594360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8" name="Text 36"/>
          <p:cNvSpPr/>
          <p:nvPr/>
        </p:nvSpPr>
        <p:spPr>
          <a:xfrm>
            <a:off x="2514600" y="3785616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154680" y="378561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lógica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154680" y="4133088"/>
            <a:ext cx="340156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se desactivan, nunca se eliminan — integridad referencial total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a escritorio, tablet y móvil con Tailwind CSS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2004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3200400" cy="3840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60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Escritorio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301752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expandido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301752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completas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301752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gráficos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960120"/>
            <a:ext cx="22860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03320" y="960120"/>
            <a:ext cx="2286000" cy="3840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960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Tablet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1463040"/>
            <a:ext cx="210312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4630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adaptado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94760" y="2148840"/>
            <a:ext cx="210312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1488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reorganizadas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94760" y="2834640"/>
            <a:ext cx="210312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28346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optimizados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960120"/>
            <a:ext cx="1645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960120"/>
            <a:ext cx="1645920" cy="3840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960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Móvil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1463040"/>
            <a:ext cx="146304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4630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Menú hamburguesa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2148840"/>
            <a:ext cx="146304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1488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horizontal tablas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834640"/>
            <a:ext cx="1463040" cy="548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8346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apiladas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36992" y="960120"/>
            <a:ext cx="914400" cy="347472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36992" y="1097280"/>
            <a:ext cx="914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4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-first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B0A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371600" y="731520"/>
            <a:ext cx="6400800" cy="384048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71600" y="8686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Demo en Vivo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2286000" y="1490472"/>
            <a:ext cx="45720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0" y="16276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por todos los roles: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645920" y="2029968"/>
            <a:ext cx="1371600" cy="475488"/>
          </a:xfrm>
          <a:prstGeom prst="rect">
            <a:avLst/>
          </a:prstGeom>
          <a:solidFill>
            <a:srgbClr val="2E7D32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645920" y="20299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Administrador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2029968"/>
            <a:ext cx="1371600" cy="475488"/>
          </a:xfrm>
          <a:prstGeom prst="rect">
            <a:avLst/>
          </a:prstGeom>
          <a:solidFill>
            <a:srgbClr val="2E7D32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154680" y="20299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Gerente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029968"/>
            <a:ext cx="1371600" cy="475488"/>
          </a:xfrm>
          <a:prstGeom prst="rect">
            <a:avLst/>
          </a:prstGeom>
          <a:solidFill>
            <a:srgbClr val="2E7D32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0299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🦺 Capataz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2029968"/>
            <a:ext cx="1371600" cy="475488"/>
          </a:xfrm>
          <a:prstGeom prst="rect">
            <a:avLst/>
          </a:prstGeom>
          <a:solidFill>
            <a:srgbClr val="2E7D32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20299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🧑‍🌾 Trabajador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645920" y="2697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URL de la aplicación: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828800" y="3063240"/>
            <a:ext cx="5486400" cy="548640"/>
          </a:xfrm>
          <a:prstGeom prst="rect">
            <a:avLst/>
          </a:prstGeom>
          <a:solidFill>
            <a:srgbClr val="1B5E20">
              <a:alpha val="80000"/>
            </a:srgbClr>
          </a:solidFill>
          <a:ln/>
        </p:spPr>
      </p:sp>
      <p:sp>
        <p:nvSpPr>
          <p:cNvPr id="20" name="Text 17">
            <a:hlinkClick r:id="rId4"/>
          </p:cNvPr>
          <p:cNvSpPr/>
          <p:nvPr/>
        </p:nvSpPr>
        <p:spPr>
          <a:xfrm>
            <a:off x="1828800" y="3063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agrogestion-web.vercel.app</a:t>
            </a:r>
            <a:endParaRPr lang="en-US" sz="1800" dirty="0"/>
          </a:p>
        </p:txBody>
      </p:sp>
      <p:sp>
        <p:nvSpPr>
          <p:cNvPr id="21" name="Text 18">
            <a:hlinkClick r:id="rId5"/>
          </p:cNvPr>
          <p:cNvSpPr/>
          <p:nvPr/>
        </p:nvSpPr>
        <p:spPr>
          <a:xfrm>
            <a:off x="1645920" y="37490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📂  github.com/Juanfrina/Agrogestion.Web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Planificación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 e incremental — 2 trimestres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1325880"/>
            <a:ext cx="292608" cy="292608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27632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27632"/>
            <a:ext cx="4114800" cy="50292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Trimestre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Análisis de viabilidad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587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Requisitos y diseño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80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Modelo de datos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3741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Arquitectura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673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Mockups + Tecnologías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325880"/>
            <a:ext cx="292608" cy="292608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627632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627632"/>
            <a:ext cx="411480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6276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Trimestre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194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Frontend completo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587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Auth + Roles + RLS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980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Terrenos + Tareas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3741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i18n + Notificaciones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7673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Pruebas + Despliegue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solidFill>
            <a:srgbClr val="1B5E2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13 objetivos específicos — todos cumplidos al cierre del proyecto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Generada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manuales + 3 diagramas técnicos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01168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secciones, paso a paso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rol de usuario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20116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68880" y="1481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Técnico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componentes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seguridad del sistema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2011680" cy="50292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17720" y="1481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Despliegue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 para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Vercel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96012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960120"/>
            <a:ext cx="20116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66560" y="1481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 Proyecto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0" y="19202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Planificación, metodología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cronograma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01568"/>
            <a:ext cx="8503920" cy="3200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4015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Diagramas Técnicos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785616"/>
            <a:ext cx="26060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85616"/>
            <a:ext cx="594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78992" y="37856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entidades y relaciones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3785616"/>
            <a:ext cx="26060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3785616"/>
            <a:ext cx="594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913632" y="37856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13632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decisiones del sistema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3785616"/>
            <a:ext cx="26060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26480" y="3785616"/>
            <a:ext cx="594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🗃️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48272" y="37856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48272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claves y relaciones DB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del Proyecto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Agrogestión en números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1097280"/>
          </a:xfrm>
          <a:prstGeom prst="rect">
            <a:avLst/>
          </a:prstGeom>
          <a:solidFill>
            <a:srgbClr val="2E7D32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005840"/>
            <a:ext cx="2743200" cy="1097280"/>
          </a:xfrm>
          <a:prstGeom prst="rect">
            <a:avLst/>
          </a:prstGeom>
          <a:solidFill>
            <a:srgbClr val="5D4037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005840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10515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73552" y="17190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005840"/>
            <a:ext cx="2743200" cy="1097280"/>
          </a:xfrm>
          <a:prstGeom prst="rect">
            <a:avLst/>
          </a:prstGeom>
          <a:solidFill>
            <a:srgbClr val="4A148C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005840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0515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81344" y="17190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67712"/>
            <a:ext cx="2743200" cy="109728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267712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1343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65760" y="2980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tarea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73552" y="2267712"/>
            <a:ext cx="2743200" cy="1097280"/>
          </a:xfrm>
          <a:prstGeom prst="rect">
            <a:avLst/>
          </a:prstGeom>
          <a:solidFill>
            <a:srgbClr val="B71C1C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73552" y="2267712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231343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3273552" y="2980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soportados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2267712"/>
            <a:ext cx="2743200" cy="1097280"/>
          </a:xfrm>
          <a:prstGeom prst="rect">
            <a:avLst/>
          </a:prstGeom>
          <a:solidFill>
            <a:srgbClr val="E6510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2267712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6181344" y="231343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6181344" y="2980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529584"/>
            <a:ext cx="2743200" cy="1097280"/>
          </a:xfrm>
          <a:prstGeom prst="rect">
            <a:avLst/>
          </a:prstGeom>
          <a:solidFill>
            <a:srgbClr val="00695C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529584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5753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365760" y="42428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73552" y="3529584"/>
            <a:ext cx="2743200" cy="1097280"/>
          </a:xfrm>
          <a:prstGeom prst="rect">
            <a:avLst/>
          </a:prstGeom>
          <a:solidFill>
            <a:srgbClr val="D4A017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73552" y="3529584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/>
          <p:nvPr/>
        </p:nvSpPr>
        <p:spPr>
          <a:xfrm>
            <a:off x="3273552" y="35753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3273552" y="42428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81344" y="3529584"/>
            <a:ext cx="2743200" cy="1097280"/>
          </a:xfrm>
          <a:prstGeom prst="rect">
            <a:avLst/>
          </a:prstGeom>
          <a:solidFill>
            <a:srgbClr val="1B5E2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3529584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0" name="Text 38"/>
          <p:cNvSpPr/>
          <p:nvPr/>
        </p:nvSpPr>
        <p:spPr>
          <a:xfrm>
            <a:off x="6181344" y="35753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6181344" y="42428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Trabajo Futuro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funcional con recorrido de crecimiento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14800" cy="43891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60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Conclusiones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481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objetivos cumplidos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025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19751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funcional y desplegada en Vercel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963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2468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roles y seguridad robusto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9008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29626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email completamente funcionales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8386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4672" y="34564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idiomas implementados con i18next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4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4672" y="39502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 en todos los dispositivos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709160" y="96012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4709160" y="960120"/>
            <a:ext cx="4114800" cy="43891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15"/>
          <p:cNvSpPr/>
          <p:nvPr/>
        </p:nvSpPr>
        <p:spPr>
          <a:xfrm>
            <a:off x="4709160" y="960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Trabajo Futuro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800600" y="1508760"/>
            <a:ext cx="3931920" cy="384048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25" name="Text 17"/>
          <p:cNvSpPr/>
          <p:nvPr/>
        </p:nvSpPr>
        <p:spPr>
          <a:xfrm>
            <a:off x="480060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5230368" y="150876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nativa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800600" y="2002536"/>
            <a:ext cx="3931920" cy="384048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28" name="Text 20"/>
          <p:cNvSpPr/>
          <p:nvPr/>
        </p:nvSpPr>
        <p:spPr>
          <a:xfrm>
            <a:off x="4800600" y="2002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9" name="Text 21"/>
          <p:cNvSpPr/>
          <p:nvPr/>
        </p:nvSpPr>
        <p:spPr>
          <a:xfrm>
            <a:off x="5230368" y="2002536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de terrenos con mapas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800600" y="2496312"/>
            <a:ext cx="3931920" cy="384048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1" name="Text 23"/>
          <p:cNvSpPr/>
          <p:nvPr/>
        </p:nvSpPr>
        <p:spPr>
          <a:xfrm>
            <a:off x="480060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🌤️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5230368" y="2496312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meteorología integrado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800600" y="2990088"/>
            <a:ext cx="3931920" cy="384048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4" name="Text 26"/>
          <p:cNvSpPr/>
          <p:nvPr/>
        </p:nvSpPr>
        <p:spPr>
          <a:xfrm>
            <a:off x="48006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5230368" y="299008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inventario y maquinaria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800600" y="3483864"/>
            <a:ext cx="3931920" cy="384048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7" name="Text 29"/>
          <p:cNvSpPr/>
          <p:nvPr/>
        </p:nvSpPr>
        <p:spPr>
          <a:xfrm>
            <a:off x="480060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5230368" y="3483864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informes en PDF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4800600" y="3977640"/>
            <a:ext cx="3931920" cy="384048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40" name="Text 32"/>
          <p:cNvSpPr/>
          <p:nvPr/>
        </p:nvSpPr>
        <p:spPr>
          <a:xfrm>
            <a:off x="480060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41" name="Text 33"/>
          <p:cNvSpPr/>
          <p:nvPr/>
        </p:nvSpPr>
        <p:spPr>
          <a:xfrm>
            <a:off x="5230368" y="3977640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IoT agrícola (sensores)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B0A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14400" y="365760"/>
            <a:ext cx="7315200" cy="429768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8" name="Text 5"/>
          <p:cNvSpPr/>
          <p:nvPr/>
        </p:nvSpPr>
        <p:spPr>
          <a:xfrm>
            <a:off x="91440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su atención!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2286000" y="1371600"/>
            <a:ext cx="4572000" cy="4572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08760"/>
            <a:ext cx="1828800" cy="182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45643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Francisco Hurtado Pérez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Albarregas · Mérida (España)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CFGS DAW · 2024/2025 – 2025/2026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14400" y="4298207"/>
            <a:ext cx="2405575" cy="360045"/>
          </a:xfrm>
          <a:prstGeom prst="rect">
            <a:avLst/>
          </a:prstGeom>
          <a:solidFill>
            <a:srgbClr val="2E7D32">
              <a:alpha val="85000"/>
            </a:srgbClr>
          </a:solidFill>
          <a:ln/>
        </p:spPr>
      </p:sp>
      <p:sp>
        <p:nvSpPr>
          <p:cNvPr id="13" name="Text 9">
            <a:hlinkClick r:id="rId5"/>
          </p:cNvPr>
          <p:cNvSpPr/>
          <p:nvPr/>
        </p:nvSpPr>
        <p:spPr>
          <a:xfrm>
            <a:off x="759655" y="4221539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agrogestion-web.vercel.app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74996" y="4298208"/>
            <a:ext cx="2560320" cy="350637"/>
          </a:xfrm>
          <a:prstGeom prst="rect">
            <a:avLst/>
          </a:prstGeom>
          <a:solidFill>
            <a:srgbClr val="2E7D32">
              <a:alpha val="85000"/>
            </a:srgbClr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5" name="Text 11">
            <a:hlinkClick r:id="rId6"/>
          </p:cNvPr>
          <p:cNvSpPr/>
          <p:nvPr/>
        </p:nvSpPr>
        <p:spPr>
          <a:xfrm>
            <a:off x="5657849" y="42153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📂  github.com/Juanfrina/Agrogestion.Web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14400" y="4828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 ·  Sostenibilidad  ·  Productividad</a:t>
            </a:r>
            <a:endParaRPr lang="en-US" sz="1000" dirty="0"/>
          </a:p>
        </p:txBody>
      </p:sp>
      <p:pic>
        <p:nvPicPr>
          <p:cNvPr id="18" name="Image 2" descr="https://api.qrserver.com/v1/create-qr-code/?size=240x240&amp;data=https://agrogestion-web.vercel.app/">
            <a:extLst>
              <a:ext uri="{FF2B5EF4-FFF2-40B4-BE49-F238E27FC236}">
                <a16:creationId xmlns:a16="http://schemas.microsoft.com/office/drawing/2014/main" id="{BA8504BB-3DBB-2EEB-1468-539125B9E8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613" y="1511574"/>
            <a:ext cx="2217420" cy="2217420"/>
          </a:xfrm>
          <a:prstGeom prst="rect">
            <a:avLst/>
          </a:prstGeom>
        </p:spPr>
      </p:pic>
      <p:pic>
        <p:nvPicPr>
          <p:cNvPr id="19" name="Image 3" descr="https://api.qrserver.com/v1/create-qr-code/?size=240x240&amp;data=https://github.com/Juanfrina/Agrogestion.Web">
            <a:extLst>
              <a:ext uri="{FF2B5EF4-FFF2-40B4-BE49-F238E27FC236}">
                <a16:creationId xmlns:a16="http://schemas.microsoft.com/office/drawing/2014/main" id="{5983F711-A904-DDBC-BDC6-AD949E5AF3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299" y="1516497"/>
            <a:ext cx="2217421" cy="2217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1350</Words>
  <Application>Microsoft Office PowerPoint</Application>
  <PresentationFormat>Presentación en pantalla (16:9)</PresentationFormat>
  <Paragraphs>402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Agrogestión TFG DAW</dc:title>
  <dc:subject>PptxGenJS Presentation</dc:subject>
  <dc:creator>Juan Francisco Hurtado Pérez</dc:creator>
  <cp:lastModifiedBy>Juan Francisco H</cp:lastModifiedBy>
  <cp:revision>3</cp:revision>
  <dcterms:created xsi:type="dcterms:W3CDTF">2026-04-23T10:51:08Z</dcterms:created>
  <dcterms:modified xsi:type="dcterms:W3CDTF">2026-04-24T13:09:49Z</dcterms:modified>
</cp:coreProperties>
</file>