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" ContentType="image/web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3966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grogestion-web.vercel.app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Juanfrina/Agrogestion.Web" TargetMode="External"/><Relationship Id="rId4" Type="http://schemas.openxmlformats.org/officeDocument/2006/relationships/hyperlink" Target="https://agrogestion-web.vercel.app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eb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Juanfrina/Agrogestion.Web" TargetMode="External"/><Relationship Id="rId5" Type="http://schemas.openxmlformats.org/officeDocument/2006/relationships/hyperlink" Target="https://agrogestion-web.vercel.app/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B0A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17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640080"/>
            <a:ext cx="2560320" cy="25603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65760" y="457200"/>
            <a:ext cx="5577840" cy="4206240"/>
          </a:xfrm>
          <a:prstGeom prst="rect">
            <a:avLst/>
          </a:prstGeom>
          <a:solidFill>
            <a:srgbClr val="FFFFFF">
              <a:alpha val="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8" name="Text 4"/>
          <p:cNvSpPr/>
          <p:nvPr/>
        </p:nvSpPr>
        <p:spPr>
          <a:xfrm>
            <a:off x="502920" y="594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Agrogestión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50292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para la Gestión Agrícola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02920" y="1874520"/>
            <a:ext cx="50292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1" name="Text 7"/>
          <p:cNvSpPr/>
          <p:nvPr/>
        </p:nvSpPr>
        <p:spPr>
          <a:xfrm>
            <a:off x="502920" y="199339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— CFGS DAW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02920" y="237744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Juan Francisco Hurtado Pérez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IES Albarregas, Mérida (España)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Curso 2024/2025 – 2025/2026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920" y="3520440"/>
            <a:ext cx="5029200" cy="502920"/>
          </a:xfrm>
          <a:prstGeom prst="rect">
            <a:avLst/>
          </a:prstGeom>
          <a:solidFill>
            <a:srgbClr val="D4A017">
              <a:alpha val="85000"/>
            </a:srgbClr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502920" y="35204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 ·  Sostenibilidad  ·  Productividad</a:t>
            </a:r>
            <a:endParaRPr lang="en-US" sz="1300" dirty="0"/>
          </a:p>
        </p:txBody>
      </p:sp>
      <p:sp>
        <p:nvSpPr>
          <p:cNvPr id="15" name="Text 11">
            <a:hlinkClick r:id="rId5"/>
          </p:cNvPr>
          <p:cNvSpPr/>
          <p:nvPr/>
        </p:nvSpPr>
        <p:spPr>
          <a:xfrm>
            <a:off x="502920" y="4160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agrogestion-web.vercel.app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la Presentación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por el proyecto Agrogestión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14800" cy="621792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24128" y="96012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Motivación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19072"/>
            <a:ext cx="4114800" cy="621792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19072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719072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24128" y="171907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478024"/>
            <a:ext cx="4114800" cy="621792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478024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478024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2478024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Utilizadas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4114800" cy="621792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236976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36976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24128" y="3236976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Base de Datos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995928"/>
            <a:ext cx="4114800" cy="621792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995928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995928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24128" y="399592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Funcionalidades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960120"/>
            <a:ext cx="4114800" cy="621792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960120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960120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13248" y="960120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 i18n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846320" y="1719072"/>
            <a:ext cx="4114800" cy="621792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1719072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1719072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413248" y="171907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Responsive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2478024"/>
            <a:ext cx="4114800" cy="621792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2478024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478024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2478024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846320" y="3236976"/>
            <a:ext cx="4114800" cy="621792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3236976"/>
            <a:ext cx="502920" cy="62179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236976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13248" y="3236976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y Conclusiones</a:t>
            </a:r>
            <a:endParaRPr lang="es-ES" sz="1300" noProof="0" dirty="0"/>
          </a:p>
        </p:txBody>
      </p:sp>
      <p:sp>
        <p:nvSpPr>
          <p:cNvPr id="45" name="Text 43"/>
          <p:cNvSpPr/>
          <p:nvPr/>
        </p:nvSpPr>
        <p:spPr>
          <a:xfrm>
            <a:off x="5413248" y="399592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Motivación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existe Agrogestión?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3291840"/>
          </a:xfrm>
          <a:prstGeom prst="rect">
            <a:avLst/>
          </a:prstGeom>
          <a:solidFill>
            <a:srgbClr val="FFF3E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4114800" cy="411480"/>
          </a:xfrm>
          <a:prstGeom prst="rect">
            <a:avLst/>
          </a:prstGeom>
          <a:solidFill>
            <a:srgbClr val="E64A19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960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El Problema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840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gestión de explotaciones agrícolas sigue dependiendo de: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Papel y notas manuales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Llamadas y WhatsApp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Sin trazabilidad ni historial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herramienta sencilla que digitalice la coordinación entre gerentes, capataces y trabajadores del campo.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114800" cy="3291840"/>
          </a:xfrm>
          <a:prstGeom prst="rect">
            <a:avLst/>
          </a:prstGeom>
          <a:solidFill>
            <a:srgbClr val="E8F5E9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60120"/>
            <a:ext cx="4114800" cy="4114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960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La Solución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463040"/>
            <a:ext cx="3840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Agrogestión es una aplicación web (SPA) que permite: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Organizar terrenos agrícolas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✔️  Crear y asignar tareas con ciclo de vida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Coordinar equipos jerárquicos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Comunicación y notificaciones en tiempo real</a:t>
            </a: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endParaRPr lang="en-US" sz="12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desde el navegador, sin instalar nada.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4343400"/>
            <a:ext cx="8412480" cy="594360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43434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Público objetivo: Explotaciones agrícolas de mediano tamaño con múltiples trabajadores y niveles de responsabilidad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objetivos específicos — todos cumplidos 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87552" y="96012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moderna con React 19 + TypeScript 5.9 + Vite 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0600" y="960120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960120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960120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22392" y="96012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segura con 4 niveles de roles jerárquicos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1892808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1892808"/>
            <a:ext cx="54864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1892808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🌾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7552" y="1892808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 de terrenos y tareas (6 estados)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1892808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1892808"/>
            <a:ext cx="54864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1892808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22392" y="1892808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notificaciones internas y por email automático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825496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825496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25496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7552" y="2825496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Internacionalización en 3 idiomas (ES / EN / RO)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800600" y="2825496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00600" y="2825496"/>
            <a:ext cx="54864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4892040" y="2825496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422392" y="2825496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responsive para cualquier dispositivo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3758184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758184"/>
            <a:ext cx="54864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758184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7552" y="375818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(Vercel) accesible globalmente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3758184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00600" y="3758184"/>
            <a:ext cx="54864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3758184"/>
            <a:ext cx="502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422392" y="375818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 nivel de fila en base de datos (RLS)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frameworks seleccionados para Agrogestión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1600200" cy="3566160"/>
          </a:xfrm>
          <a:prstGeom prst="rect">
            <a:avLst/>
          </a:prstGeom>
          <a:solidFill>
            <a:srgbClr val="1565C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1600200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96012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46304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React 19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2121408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TypeScript 5.9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2779776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Vite 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3438144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Tailwind CSS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039112" y="960120"/>
            <a:ext cx="1600200" cy="3566160"/>
          </a:xfrm>
          <a:prstGeom prst="rect">
            <a:avLst/>
          </a:prstGeom>
          <a:solidFill>
            <a:srgbClr val="6A1B9A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960120"/>
            <a:ext cx="1600200" cy="38404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96012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146304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🐻 Zustand 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121408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React Router 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2779776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React Hook Form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58184" y="960120"/>
            <a:ext cx="1600200" cy="3566160"/>
          </a:xfrm>
          <a:prstGeom prst="rect">
            <a:avLst/>
          </a:prstGeom>
          <a:solidFill>
            <a:srgbClr val="1B5E2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58184" y="960120"/>
            <a:ext cx="1600200" cy="38404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1" name="Text 19"/>
          <p:cNvSpPr/>
          <p:nvPr/>
        </p:nvSpPr>
        <p:spPr>
          <a:xfrm>
            <a:off x="3758184" y="96012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22192" y="146304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Supabase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22192" y="2121408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🐘 PostgreSQL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22192" y="2779776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RLS + RPC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22192" y="3438144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pg_net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77256" y="960120"/>
            <a:ext cx="1600200" cy="3566160"/>
          </a:xfrm>
          <a:prstGeom prst="rect">
            <a:avLst/>
          </a:prstGeom>
          <a:solidFill>
            <a:srgbClr val="B71C1C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77256" y="960120"/>
            <a:ext cx="1600200" cy="384048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8" name="Text 26"/>
          <p:cNvSpPr/>
          <p:nvPr/>
        </p:nvSpPr>
        <p:spPr>
          <a:xfrm>
            <a:off x="5477256" y="96012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/ Email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41264" y="146304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i18next (ES/EN/RO)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41264" y="2121408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Brevo API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41264" y="2779776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Triggers PostgreSQL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96328" y="960120"/>
            <a:ext cx="1600200" cy="3566160"/>
          </a:xfrm>
          <a:prstGeom prst="rect">
            <a:avLst/>
          </a:prstGeom>
          <a:solidFill>
            <a:srgbClr val="E6510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196328" y="960120"/>
            <a:ext cx="1600200" cy="38404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7196328" y="96012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260336" y="146304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Vercel (CI/CD)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60336" y="2121408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GitHub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60336" y="2779776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Git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Aplicación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con Repository Pattern — separación clara de capas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960120"/>
            <a:ext cx="5029200" cy="59436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9601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/ Navegador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22192" y="1554480"/>
            <a:ext cx="36576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5727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1691640"/>
            <a:ext cx="5029200" cy="594360"/>
          </a:xfrm>
          <a:prstGeom prst="rect">
            <a:avLst/>
          </a:prstGeom>
          <a:solidFill>
            <a:srgbClr val="2E7D32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0" y="16916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→ Componentes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22192" y="2286000"/>
            <a:ext cx="36576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3042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2423160"/>
            <a:ext cx="5029200" cy="594360"/>
          </a:xfrm>
          <a:prstGeom prst="rect">
            <a:avLst/>
          </a:prstGeom>
          <a:solidFill>
            <a:srgbClr val="1B5E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371600" y="24231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Layer (41 componentes)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22192" y="3017520"/>
            <a:ext cx="36576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30358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71600" y="3154680"/>
            <a:ext cx="5029200" cy="594360"/>
          </a:xfrm>
          <a:prstGeom prst="rect">
            <a:avLst/>
          </a:prstGeom>
          <a:solidFill>
            <a:srgbClr val="5D4037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371600" y="315468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API (Auth + DB + RLS + RPC)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22192" y="3749040"/>
            <a:ext cx="36576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376732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▼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71600" y="3886200"/>
            <a:ext cx="5029200" cy="594360"/>
          </a:xfrm>
          <a:prstGeom prst="rect">
            <a:avLst/>
          </a:prstGeom>
          <a:solidFill>
            <a:srgbClr val="4A148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371600" y="38862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Triggers + pg_net + Brevo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914400"/>
            <a:ext cx="224028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914400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Puntos clave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1325880"/>
            <a:ext cx="54864" cy="4754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7" name="Text 25"/>
          <p:cNvSpPr/>
          <p:nvPr/>
        </p:nvSpPr>
        <p:spPr>
          <a:xfrm>
            <a:off x="6839712" y="130759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NUNCA habla directamente con Supabase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20840" y="1947672"/>
            <a:ext cx="54864" cy="4754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9" name="Text 27"/>
          <p:cNvSpPr/>
          <p:nvPr/>
        </p:nvSpPr>
        <p:spPr>
          <a:xfrm>
            <a:off x="6839712" y="192938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pasa por repositorios centralizados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720840" y="2569464"/>
            <a:ext cx="54864" cy="4754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1" name="Text 29"/>
          <p:cNvSpPr/>
          <p:nvPr/>
        </p:nvSpPr>
        <p:spPr>
          <a:xfrm>
            <a:off x="6839712" y="255117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JWT + bcrypt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20840" y="3191256"/>
            <a:ext cx="54864" cy="4754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6839712" y="3172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RLS por rol en cada tabla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20840" y="3813048"/>
            <a:ext cx="54864" cy="47548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5" name="Text 33"/>
          <p:cNvSpPr/>
          <p:nvPr/>
        </p:nvSpPr>
        <p:spPr>
          <a:xfrm>
            <a:off x="6839712" y="37947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RPC para operaciones complejas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tablas · 4 roles · RLS en todas las tablas · Triggers automáticos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1600200" cy="658368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0332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39112" y="960120"/>
            <a:ext cx="1600200" cy="658368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39112" y="96012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2039112" y="10332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58184" y="960120"/>
            <a:ext cx="1600200" cy="658368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96012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4" name="Text 12"/>
          <p:cNvSpPr/>
          <p:nvPr/>
        </p:nvSpPr>
        <p:spPr>
          <a:xfrm>
            <a:off x="3758184" y="10332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77256" y="960120"/>
            <a:ext cx="1600200" cy="658368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77256" y="96012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5477256" y="10332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estados_tarea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96328" y="960120"/>
            <a:ext cx="1600200" cy="658368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96328" y="96012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7196328" y="103327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783080"/>
            <a:ext cx="1600200" cy="658368"/>
          </a:xfrm>
          <a:prstGeom prst="rect">
            <a:avLst/>
          </a:prstGeom>
          <a:solidFill>
            <a:srgbClr val="5D403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178308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85623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gerente_capataz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039112" y="1783080"/>
            <a:ext cx="1600200" cy="658368"/>
          </a:xfrm>
          <a:prstGeom prst="rect">
            <a:avLst/>
          </a:prstGeom>
          <a:solidFill>
            <a:srgbClr val="5D403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039112" y="178308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2039112" y="185623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capataz_trabajador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58184" y="1783080"/>
            <a:ext cx="1600200" cy="658368"/>
          </a:xfrm>
          <a:prstGeom prst="rect">
            <a:avLst/>
          </a:prstGeom>
          <a:solidFill>
            <a:srgbClr val="5D403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58184" y="178308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9" name="Text 27"/>
          <p:cNvSpPr/>
          <p:nvPr/>
        </p:nvSpPr>
        <p:spPr>
          <a:xfrm>
            <a:off x="3758184" y="185623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tarea_trabajador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77256" y="1783080"/>
            <a:ext cx="1600200" cy="658368"/>
          </a:xfrm>
          <a:prstGeom prst="rect">
            <a:avLst/>
          </a:prstGeom>
          <a:solidFill>
            <a:srgbClr val="5D403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77256" y="178308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5477256" y="185623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comentarios_tarea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96328" y="1783080"/>
            <a:ext cx="1600200" cy="658368"/>
          </a:xfrm>
          <a:prstGeom prst="rect">
            <a:avLst/>
          </a:prstGeom>
          <a:solidFill>
            <a:srgbClr val="5D403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196328" y="1783080"/>
            <a:ext cx="1600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5" name="Text 33"/>
          <p:cNvSpPr/>
          <p:nvPr/>
        </p:nvSpPr>
        <p:spPr>
          <a:xfrm>
            <a:off x="7196328" y="1856232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2724912"/>
            <a:ext cx="8503920" cy="29260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2724912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Ciclo de Vida de una Tarea (6 estados)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0040" y="3081528"/>
            <a:ext cx="1325880" cy="502920"/>
          </a:xfrm>
          <a:prstGeom prst="rect">
            <a:avLst/>
          </a:prstGeom>
          <a:solidFill>
            <a:srgbClr val="78909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20040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45920" y="3081528"/>
            <a:ext cx="100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746504" y="3081528"/>
            <a:ext cx="1325880" cy="502920"/>
          </a:xfrm>
          <a:prstGeom prst="rect">
            <a:avLst/>
          </a:prstGeom>
          <a:solidFill>
            <a:srgbClr val="1565C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746504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Asignada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072384" y="3081528"/>
            <a:ext cx="100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72968" y="3081528"/>
            <a:ext cx="1325880" cy="502920"/>
          </a:xfrm>
          <a:prstGeom prst="rect">
            <a:avLst/>
          </a:prstGeom>
          <a:solidFill>
            <a:srgbClr val="2E7D32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172968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498848" y="3081528"/>
            <a:ext cx="100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→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599432" y="3081528"/>
            <a:ext cx="1325880" cy="502920"/>
          </a:xfrm>
          <a:prstGeom prst="rect">
            <a:avLst/>
          </a:prstGeom>
          <a:solidFill>
            <a:srgbClr val="E6510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599432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progreso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925312" y="3081528"/>
            <a:ext cx="100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017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025896" y="3081528"/>
            <a:ext cx="1325880" cy="502920"/>
          </a:xfrm>
          <a:prstGeom prst="rect">
            <a:avLst/>
          </a:prstGeom>
          <a:solidFill>
            <a:srgbClr val="1B5E20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025896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452360" y="3081528"/>
            <a:ext cx="1325880" cy="502920"/>
          </a:xfrm>
          <a:prstGeom prst="rect">
            <a:avLst/>
          </a:prstGeom>
          <a:solidFill>
            <a:srgbClr val="B71C1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452360" y="3081528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3749040"/>
            <a:ext cx="1920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57200" y="37490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57200" y="4160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en todas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tablas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560320" y="3749040"/>
            <a:ext cx="1920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2560320" y="37490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2560320" y="4160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automáticos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663440" y="3749040"/>
            <a:ext cx="1920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4663440" y="37490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📧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4663440" y="4160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 crear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766560" y="3749040"/>
            <a:ext cx="19202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766560" y="37490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6766560" y="4160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scripts SQL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y Funcionalidades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 jerárquicos con permisos diferenciados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2011680" cy="68580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960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👑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" y="1344168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" y="1719072"/>
            <a:ext cx="45720" cy="50292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1700784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gráficos globales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2423160"/>
            <a:ext cx="45720" cy="50292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" y="240487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 de usuarios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3192" y="3127248"/>
            <a:ext cx="45720" cy="50292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3108960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roles y estados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3192" y="3831336"/>
            <a:ext cx="45720" cy="502920"/>
          </a:xfrm>
          <a:prstGeom prst="rect">
            <a:avLst/>
          </a:prstGeom>
          <a:solidFill>
            <a:srgbClr val="4A148C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" y="3813048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distribución de roles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468880" y="9601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68880" y="960120"/>
            <a:ext cx="2011680" cy="6858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0" name="Text 18"/>
          <p:cNvSpPr/>
          <p:nvPr/>
        </p:nvSpPr>
        <p:spPr>
          <a:xfrm>
            <a:off x="2468880" y="960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👔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2468880" y="1344168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42032" y="1719072"/>
            <a:ext cx="457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3" name="Text 21"/>
          <p:cNvSpPr/>
          <p:nvPr/>
        </p:nvSpPr>
        <p:spPr>
          <a:xfrm>
            <a:off x="2633472" y="1700784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terrenos (CRUD)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42032" y="2423160"/>
            <a:ext cx="457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5" name="Text 23"/>
          <p:cNvSpPr/>
          <p:nvPr/>
        </p:nvSpPr>
        <p:spPr>
          <a:xfrm>
            <a:off x="2633472" y="240487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y asignar tareas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42032" y="3127248"/>
            <a:ext cx="457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7" name="Text 25"/>
          <p:cNvSpPr/>
          <p:nvPr/>
        </p:nvSpPr>
        <p:spPr>
          <a:xfrm>
            <a:off x="2633472" y="3108960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equipo de capataces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42032" y="3831336"/>
            <a:ext cx="457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9" name="Text 27"/>
          <p:cNvSpPr/>
          <p:nvPr/>
        </p:nvSpPr>
        <p:spPr>
          <a:xfrm>
            <a:off x="2633472" y="3813048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métricas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9601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960120"/>
            <a:ext cx="2011680" cy="68580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2" name="Text 30"/>
          <p:cNvSpPr/>
          <p:nvPr/>
        </p:nvSpPr>
        <p:spPr>
          <a:xfrm>
            <a:off x="4617720" y="960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🦺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617720" y="1344168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Capataz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90872" y="1719072"/>
            <a:ext cx="45720" cy="50292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5" name="Text 33"/>
          <p:cNvSpPr/>
          <p:nvPr/>
        </p:nvSpPr>
        <p:spPr>
          <a:xfrm>
            <a:off x="4782312" y="1700784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Aceptar/rechazar tareas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90872" y="2423160"/>
            <a:ext cx="45720" cy="50292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7" name="Text 35"/>
          <p:cNvSpPr/>
          <p:nvPr/>
        </p:nvSpPr>
        <p:spPr>
          <a:xfrm>
            <a:off x="4782312" y="240487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estado de tareas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90872" y="3127248"/>
            <a:ext cx="45720" cy="50292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39" name="Text 37"/>
          <p:cNvSpPr/>
          <p:nvPr/>
        </p:nvSpPr>
        <p:spPr>
          <a:xfrm>
            <a:off x="4782312" y="3108960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trabajadores de apoyo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90872" y="3831336"/>
            <a:ext cx="45720" cy="502920"/>
          </a:xfrm>
          <a:prstGeom prst="rect">
            <a:avLst/>
          </a:prstGeom>
          <a:solidFill>
            <a:srgbClr val="5D4037"/>
          </a:solidFill>
          <a:ln/>
        </p:spPr>
      </p:sp>
      <p:sp>
        <p:nvSpPr>
          <p:cNvPr id="41" name="Text 39"/>
          <p:cNvSpPr/>
          <p:nvPr/>
        </p:nvSpPr>
        <p:spPr>
          <a:xfrm>
            <a:off x="4782312" y="3813048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Notificaciones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9601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766560" y="960120"/>
            <a:ext cx="201168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0" y="960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🧑‍🌾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6766560" y="1344168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Trabajador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39712" y="1719072"/>
            <a:ext cx="457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7" name="Text 45"/>
          <p:cNvSpPr/>
          <p:nvPr/>
        </p:nvSpPr>
        <p:spPr>
          <a:xfrm>
            <a:off x="6931152" y="1700784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tareas asignadas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839712" y="2423160"/>
            <a:ext cx="457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9" name="Text 47"/>
          <p:cNvSpPr/>
          <p:nvPr/>
        </p:nvSpPr>
        <p:spPr>
          <a:xfrm>
            <a:off x="6931152" y="2404872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Aceptar/rechazar asignaciones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39712" y="3127248"/>
            <a:ext cx="457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1" name="Text 49"/>
          <p:cNvSpPr/>
          <p:nvPr/>
        </p:nvSpPr>
        <p:spPr>
          <a:xfrm>
            <a:off x="6931152" y="3108960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comentarios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39712" y="3831336"/>
            <a:ext cx="457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3" name="Text 51"/>
          <p:cNvSpPr/>
          <p:nvPr/>
        </p:nvSpPr>
        <p:spPr>
          <a:xfrm>
            <a:off x="6931152" y="3813048"/>
            <a:ext cx="17830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Notificaciones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7"/>
          <p:cNvSpPr/>
          <p:nvPr/>
        </p:nvSpPr>
        <p:spPr>
          <a:xfrm>
            <a:off x="457200" y="1572768"/>
            <a:ext cx="3886200" cy="4754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Sistema de Notificaciones</a:t>
            </a:r>
            <a:endParaRPr lang="es-ES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i="1" noProof="0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internas + Email automático vía </a:t>
            </a:r>
            <a:r>
              <a:rPr lang="es-ES" sz="1200" i="1" noProof="0" dirty="0" err="1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r>
              <a:rPr lang="es-ES" sz="1200" i="1" noProof="0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PostgreSQL</a:t>
            </a:r>
            <a:endParaRPr lang="es-ES" sz="1200" noProof="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s-ES" sz="900" noProof="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s-ES" sz="900" noProof="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365760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4114800" cy="438912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Notificaciones Internas</a:t>
            </a:r>
            <a:endParaRPr lang="es-ES" sz="1300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1572768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🔴 Campanita con contador de no leídas</a:t>
            </a:r>
            <a:endParaRPr lang="es-ES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457200" y="2157984"/>
            <a:ext cx="3886200" cy="4754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2" name="Text 10"/>
          <p:cNvSpPr/>
          <p:nvPr/>
        </p:nvSpPr>
        <p:spPr>
          <a:xfrm>
            <a:off x="502920" y="2157984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📋 Modal con historial completo</a:t>
            </a:r>
            <a:endParaRPr lang="es-ES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3886200" cy="4754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2743200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Marcar como leídas (individual o todas)</a:t>
            </a:r>
            <a:endParaRPr lang="es-ES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457200" y="3328416"/>
            <a:ext cx="3886200" cy="4754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502920" y="3328416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⏱️ Actualización automática cada 30 segundos</a:t>
            </a:r>
            <a:endParaRPr lang="es-ES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" y="3913632"/>
            <a:ext cx="3886200" cy="475488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8" name="Text 16"/>
          <p:cNvSpPr/>
          <p:nvPr/>
        </p:nvSpPr>
        <p:spPr>
          <a:xfrm>
            <a:off x="502920" y="391363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📌 Acceso desde cualquier pantalla (</a:t>
            </a:r>
            <a:r>
              <a:rPr lang="es-ES" sz="12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r>
              <a:rPr lang="es-ES" sz="12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4663440" y="1005840"/>
            <a:ext cx="4114800" cy="365760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 noProof="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4114800" cy="438912"/>
          </a:xfrm>
          <a:prstGeom prst="rect">
            <a:avLst/>
          </a:prstGeom>
          <a:solidFill>
            <a:srgbClr val="5D4037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1" name="Text 19"/>
          <p:cNvSpPr/>
          <p:nvPr/>
        </p:nvSpPr>
        <p:spPr>
          <a:xfrm>
            <a:off x="4663440" y="10058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Email Automático</a:t>
            </a:r>
            <a:endParaRPr lang="es-ES" sz="1300" noProof="0" dirty="0"/>
          </a:p>
        </p:txBody>
      </p:sp>
      <p:sp>
        <p:nvSpPr>
          <p:cNvPr id="22" name="Shape 20"/>
          <p:cNvSpPr/>
          <p:nvPr/>
        </p:nvSpPr>
        <p:spPr>
          <a:xfrm>
            <a:off x="4754880" y="1554480"/>
            <a:ext cx="3931920" cy="594360"/>
          </a:xfrm>
          <a:prstGeom prst="rect">
            <a:avLst/>
          </a:prstGeom>
          <a:solidFill>
            <a:srgbClr val="FFFFFF">
              <a:alpha val="82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3" name="Text 21"/>
          <p:cNvSpPr/>
          <p:nvPr/>
        </p:nvSpPr>
        <p:spPr>
          <a:xfrm>
            <a:off x="4773168" y="15544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🗄️</a:t>
            </a:r>
            <a:endParaRPr lang="es-ES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5257800" y="1554480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creada</a:t>
            </a:r>
            <a:r>
              <a:rPr lang="es-ES" sz="1100" noProof="0" dirty="0"/>
              <a:t> </a:t>
            </a: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 base de datos</a:t>
            </a:r>
            <a:endParaRPr lang="es-ES" sz="1100" noProof="0" dirty="0"/>
          </a:p>
        </p:txBody>
      </p:sp>
      <p:sp>
        <p:nvSpPr>
          <p:cNvPr id="25" name="Text 23"/>
          <p:cNvSpPr/>
          <p:nvPr/>
        </p:nvSpPr>
        <p:spPr>
          <a:xfrm>
            <a:off x="6446520" y="21488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D4A017"/>
                </a:solidFill>
              </a:rPr>
              <a:t>▼</a:t>
            </a:r>
            <a:endParaRPr lang="es-ES" sz="1200" noProof="0" dirty="0"/>
          </a:p>
        </p:txBody>
      </p:sp>
      <p:sp>
        <p:nvSpPr>
          <p:cNvPr id="26" name="Shape 24"/>
          <p:cNvSpPr/>
          <p:nvPr/>
        </p:nvSpPr>
        <p:spPr>
          <a:xfrm>
            <a:off x="4754880" y="2304288"/>
            <a:ext cx="3931920" cy="594360"/>
          </a:xfrm>
          <a:prstGeom prst="rect">
            <a:avLst/>
          </a:prstGeom>
          <a:solidFill>
            <a:srgbClr val="FFFFFF">
              <a:alpha val="82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27" name="Text 25"/>
          <p:cNvSpPr/>
          <p:nvPr/>
        </p:nvSpPr>
        <p:spPr>
          <a:xfrm>
            <a:off x="4773168" y="230428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⚡</a:t>
            </a:r>
            <a:endParaRPr lang="es-ES" sz="2000" noProof="0" dirty="0"/>
          </a:p>
        </p:txBody>
      </p:sp>
      <p:sp>
        <p:nvSpPr>
          <p:cNvPr id="28" name="Text 26"/>
          <p:cNvSpPr/>
          <p:nvPr/>
        </p:nvSpPr>
        <p:spPr>
          <a:xfrm>
            <a:off x="5257800" y="2304288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Trigger PostgreSQL</a:t>
            </a:r>
            <a:r>
              <a:rPr lang="es-ES" sz="1100" noProof="0" dirty="0"/>
              <a:t> </a:t>
            </a: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 activa automáticamente</a:t>
            </a:r>
            <a:endParaRPr lang="es-ES" sz="1100" noProof="0" dirty="0"/>
          </a:p>
        </p:txBody>
      </p:sp>
      <p:sp>
        <p:nvSpPr>
          <p:cNvPr id="29" name="Text 27"/>
          <p:cNvSpPr/>
          <p:nvPr/>
        </p:nvSpPr>
        <p:spPr>
          <a:xfrm>
            <a:off x="6446520" y="289864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D4A017"/>
                </a:solidFill>
              </a:rPr>
              <a:t>▼</a:t>
            </a:r>
            <a:endParaRPr lang="es-ES" sz="1200" noProof="0" dirty="0"/>
          </a:p>
        </p:txBody>
      </p:sp>
      <p:sp>
        <p:nvSpPr>
          <p:cNvPr id="30" name="Shape 28"/>
          <p:cNvSpPr/>
          <p:nvPr/>
        </p:nvSpPr>
        <p:spPr>
          <a:xfrm>
            <a:off x="4754880" y="3054096"/>
            <a:ext cx="3931920" cy="594360"/>
          </a:xfrm>
          <a:prstGeom prst="rect">
            <a:avLst/>
          </a:prstGeom>
          <a:solidFill>
            <a:srgbClr val="FFFFFF">
              <a:alpha val="82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1" name="Text 29"/>
          <p:cNvSpPr/>
          <p:nvPr/>
        </p:nvSpPr>
        <p:spPr>
          <a:xfrm>
            <a:off x="4773168" y="30540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🌐</a:t>
            </a:r>
            <a:endParaRPr lang="es-ES" sz="2000" noProof="0" dirty="0"/>
          </a:p>
        </p:txBody>
      </p:sp>
      <p:sp>
        <p:nvSpPr>
          <p:cNvPr id="32" name="Text 30"/>
          <p:cNvSpPr/>
          <p:nvPr/>
        </p:nvSpPr>
        <p:spPr>
          <a:xfrm>
            <a:off x="5257800" y="3054096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pg_net</a:t>
            </a: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realiza</a:t>
            </a:r>
            <a:r>
              <a:rPr lang="es-ES" sz="1100" noProof="0" dirty="0"/>
              <a:t> </a:t>
            </a:r>
            <a:r>
              <a:rPr lang="es-ES" sz="11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HTTP a Brevo API</a:t>
            </a:r>
            <a:endParaRPr lang="es-ES" sz="1100" noProof="0" dirty="0"/>
          </a:p>
        </p:txBody>
      </p:sp>
      <p:sp>
        <p:nvSpPr>
          <p:cNvPr id="33" name="Text 31"/>
          <p:cNvSpPr/>
          <p:nvPr/>
        </p:nvSpPr>
        <p:spPr>
          <a:xfrm>
            <a:off x="6446520" y="3648456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1200" noProof="0" dirty="0">
                <a:solidFill>
                  <a:srgbClr val="D4A017"/>
                </a:solidFill>
              </a:rPr>
              <a:t>▼</a:t>
            </a:r>
            <a:endParaRPr lang="es-ES" sz="1200" noProof="0" dirty="0"/>
          </a:p>
        </p:txBody>
      </p:sp>
      <p:sp>
        <p:nvSpPr>
          <p:cNvPr id="34" name="Shape 32"/>
          <p:cNvSpPr/>
          <p:nvPr/>
        </p:nvSpPr>
        <p:spPr>
          <a:xfrm>
            <a:off x="4754880" y="3803904"/>
            <a:ext cx="3931920" cy="594360"/>
          </a:xfrm>
          <a:prstGeom prst="rect">
            <a:avLst/>
          </a:prstGeom>
          <a:solidFill>
            <a:srgbClr val="FFFFFF">
              <a:alpha val="82000"/>
            </a:srgbClr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35" name="Text 33"/>
          <p:cNvSpPr/>
          <p:nvPr/>
        </p:nvSpPr>
        <p:spPr>
          <a:xfrm>
            <a:off x="4773168" y="380390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sz="2000" noProof="0" dirty="0">
                <a:solidFill>
                  <a:srgbClr val="000000"/>
                </a:solidFill>
              </a:rPr>
              <a:t>📬</a:t>
            </a:r>
            <a:endParaRPr lang="es-ES" sz="2000" noProof="0" dirty="0"/>
          </a:p>
        </p:txBody>
      </p:sp>
      <p:sp>
        <p:nvSpPr>
          <p:cNvPr id="36" name="Text 34"/>
          <p:cNvSpPr/>
          <p:nvPr/>
        </p:nvSpPr>
        <p:spPr>
          <a:xfrm>
            <a:off x="5257800" y="3803904"/>
            <a:ext cx="3337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Email estilizado</a:t>
            </a:r>
            <a:r>
              <a:rPr lang="es-ES" sz="1100" noProof="0" dirty="0"/>
              <a:t> </a:t>
            </a:r>
            <a:r>
              <a:rPr lang="es-ES" sz="11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 botón de acceso directo</a:t>
            </a:r>
            <a:endParaRPr lang="es-ES" sz="11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Internacionalización (i18n)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idiomas · Selector accesible · i18next con JSON files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2560320" cy="2286000"/>
          </a:xfrm>
          <a:prstGeom prst="rect">
            <a:avLst/>
          </a:prstGeom>
          <a:solidFill>
            <a:srgbClr val="1B5E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0058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🇪🇸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Español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74720" y="1005840"/>
            <a:ext cx="2560320" cy="228600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0058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🇬🇧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74720" y="2423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09360" y="1005840"/>
            <a:ext cx="2560320" cy="2286000"/>
          </a:xfrm>
          <a:prstGeom prst="rect">
            <a:avLst/>
          </a:prstGeom>
          <a:solidFill>
            <a:srgbClr val="B71C1C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0058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🇷🇴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309360" y="19202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2423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Română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" y="349300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5760" y="349300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1248" y="34930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completamente traducidos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349300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49300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30368" y="34930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error en el idioma activo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399592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39959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🔘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41248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Botones, labels y alertas traducidos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399592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39959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📂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30368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JSON de traducciones por idioma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49884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44988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41248" y="44988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idioma accesible desde header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4498848"/>
            <a:ext cx="4206240" cy="4114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54880" y="44988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230368" y="44988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idioma sin recargar la página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capas de protección — frontend y backend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594360" cy="7772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960120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60120" y="96012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13075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con Supabase Auth, tokens JWT y hashing bcrypt de contraseñas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960120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960120"/>
            <a:ext cx="594360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960120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96012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40680" y="13075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en todas las tablas PostgreSQL — cada usuario solo ve y modifica lo suyo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1901952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1901952"/>
            <a:ext cx="594360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190195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60120" y="19019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DEFINER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2249424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para romper recursión en políticas RLS sin comprometer seguridad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00600" y="1901952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1901952"/>
            <a:ext cx="594360" cy="7772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90195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40680" y="190195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protegidas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40680" y="2249424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ProtectedRoute + PublicRoute en el frontend según rol del usuario autenticado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2843784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2843784"/>
            <a:ext cx="594360" cy="7772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2843784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60120" y="28437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tiempo real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60120" y="3191256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DNI, teléfono y contraseña validados antes de enviar al servidor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800600" y="2843784"/>
            <a:ext cx="4251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2843784"/>
            <a:ext cx="594360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2843784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📧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440680" y="28437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de contraseña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40680" y="3191256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segura por email con resetPasswordForEmail de Supabase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514600" y="3785616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514600" y="3785616"/>
            <a:ext cx="594360" cy="77724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8" name="Text 36"/>
          <p:cNvSpPr/>
          <p:nvPr/>
        </p:nvSpPr>
        <p:spPr>
          <a:xfrm>
            <a:off x="2514600" y="3785616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🗑️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154680" y="3785616"/>
            <a:ext cx="3401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lógica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154680" y="4133088"/>
            <a:ext cx="34015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usuarios se desactivan, nunca se eliminan — integridad referencial total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a escritorio, tablet y móvil con Tailwind CSS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32004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3200400" cy="38404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96012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Escritorio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463040"/>
            <a:ext cx="30175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expandido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148840"/>
            <a:ext cx="30175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completas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34640"/>
            <a:ext cx="30175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346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gráficos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22860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03320" y="960120"/>
            <a:ext cx="2286000" cy="38404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9601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Tablet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94760" y="1463040"/>
            <a:ext cx="21031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0" y="146304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adaptado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94760" y="2148840"/>
            <a:ext cx="21031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14884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reorganizadas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94760" y="2834640"/>
            <a:ext cx="210312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0" y="283464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optimizados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960120"/>
            <a:ext cx="16459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960120"/>
            <a:ext cx="1645920" cy="38404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960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Móvil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1463040"/>
            <a:ext cx="146304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463040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☰ Menú hamburguesa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2148840"/>
            <a:ext cx="146304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2148840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horizontal tablas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63640" y="2834640"/>
            <a:ext cx="1463040" cy="548640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2834640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apiladas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36992" y="960120"/>
            <a:ext cx="914400" cy="3474720"/>
          </a:xfrm>
          <a:prstGeom prst="rect">
            <a:avLst/>
          </a:prstGeom>
          <a:solidFill>
            <a:srgbClr val="0EA5E9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936992" y="1097280"/>
            <a:ext cx="9144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4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-first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B0A">
              <a:alpha val="6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371600" y="731520"/>
            <a:ext cx="6400800" cy="3840480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371600" y="868680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Demo en Vivo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2286000" y="1490472"/>
            <a:ext cx="4572000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9" name="Text 6"/>
          <p:cNvSpPr/>
          <p:nvPr/>
        </p:nvSpPr>
        <p:spPr>
          <a:xfrm>
            <a:off x="1645920" y="162763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por todos los roles: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645920" y="2029968"/>
            <a:ext cx="1371600" cy="475488"/>
          </a:xfrm>
          <a:prstGeom prst="rect">
            <a:avLst/>
          </a:prstGeom>
          <a:solidFill>
            <a:srgbClr val="2E7D32">
              <a:alpha val="8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645920" y="202996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Administrador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154680" y="2029968"/>
            <a:ext cx="1371600" cy="475488"/>
          </a:xfrm>
          <a:prstGeom prst="rect">
            <a:avLst/>
          </a:prstGeom>
          <a:solidFill>
            <a:srgbClr val="2E7D32">
              <a:alpha val="8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3154680" y="202996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👔 Gerente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029968"/>
            <a:ext cx="1371600" cy="475488"/>
          </a:xfrm>
          <a:prstGeom prst="rect">
            <a:avLst/>
          </a:prstGeom>
          <a:solidFill>
            <a:srgbClr val="2E7D32">
              <a:alpha val="80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4663440" y="202996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🦺 Capataz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2029968"/>
            <a:ext cx="1371600" cy="475488"/>
          </a:xfrm>
          <a:prstGeom prst="rect">
            <a:avLst/>
          </a:prstGeom>
          <a:solidFill>
            <a:srgbClr val="2E7D32">
              <a:alpha val="80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172200" y="202996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🧑‍🌾 Trabajador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645920" y="269748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URL de la aplicación: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828800" y="3063240"/>
            <a:ext cx="5486400" cy="548640"/>
          </a:xfrm>
          <a:prstGeom prst="rect">
            <a:avLst/>
          </a:prstGeom>
          <a:solidFill>
            <a:srgbClr val="1B5E20">
              <a:alpha val="80000"/>
            </a:srgbClr>
          </a:solidFill>
          <a:ln/>
        </p:spPr>
      </p:sp>
      <p:sp>
        <p:nvSpPr>
          <p:cNvPr id="20" name="Text 17">
            <a:hlinkClick r:id="rId4"/>
          </p:cNvPr>
          <p:cNvSpPr/>
          <p:nvPr/>
        </p:nvSpPr>
        <p:spPr>
          <a:xfrm>
            <a:off x="1828800" y="30632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u="sng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agrogestion-web.vercel.app</a:t>
            </a:r>
            <a:endParaRPr lang="en-US" sz="1800" dirty="0"/>
          </a:p>
        </p:txBody>
      </p:sp>
      <p:sp>
        <p:nvSpPr>
          <p:cNvPr id="21" name="Text 18">
            <a:hlinkClick r:id="rId5"/>
          </p:cNvPr>
          <p:cNvSpPr/>
          <p:nvPr/>
        </p:nvSpPr>
        <p:spPr>
          <a:xfrm>
            <a:off x="1645920" y="374904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u="sng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 github.com/Juanfrina/Agrogestion.Web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del Proyecto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Agrogestión en números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743200" cy="1097280"/>
          </a:xfrm>
          <a:prstGeom prst="rect">
            <a:avLst/>
          </a:prstGeom>
          <a:solidFill>
            <a:srgbClr val="2E7D32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05840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515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73552" y="1005840"/>
            <a:ext cx="2743200" cy="1097280"/>
          </a:xfrm>
          <a:prstGeom prst="rect">
            <a:avLst/>
          </a:prstGeom>
          <a:solidFill>
            <a:srgbClr val="5D4037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73552" y="1005840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2" name="Text 10"/>
          <p:cNvSpPr/>
          <p:nvPr/>
        </p:nvSpPr>
        <p:spPr>
          <a:xfrm>
            <a:off x="3273552" y="10515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73552" y="17190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005840"/>
            <a:ext cx="2743200" cy="1097280"/>
          </a:xfrm>
          <a:prstGeom prst="rect">
            <a:avLst/>
          </a:prstGeom>
          <a:solidFill>
            <a:srgbClr val="4A148C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81344" y="1005840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6181344" y="10515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181344" y="17190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267712"/>
            <a:ext cx="2743200" cy="1097280"/>
          </a:xfrm>
          <a:prstGeom prst="rect">
            <a:avLst/>
          </a:prstGeom>
          <a:solidFill>
            <a:srgbClr val="1565C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267712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31343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65760" y="29809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tarea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73552" y="2267712"/>
            <a:ext cx="2743200" cy="1097280"/>
          </a:xfrm>
          <a:prstGeom prst="rect">
            <a:avLst/>
          </a:prstGeom>
          <a:solidFill>
            <a:srgbClr val="B71C1C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73552" y="2267712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3273552" y="231343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273552" y="29809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soportados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81344" y="2267712"/>
            <a:ext cx="2743200" cy="1097280"/>
          </a:xfrm>
          <a:prstGeom prst="rect">
            <a:avLst/>
          </a:prstGeom>
          <a:solidFill>
            <a:srgbClr val="E6510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267712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8" name="Text 26"/>
          <p:cNvSpPr/>
          <p:nvPr/>
        </p:nvSpPr>
        <p:spPr>
          <a:xfrm>
            <a:off x="6181344" y="231343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6181344" y="29809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529584"/>
            <a:ext cx="2743200" cy="1097280"/>
          </a:xfrm>
          <a:prstGeom prst="rect">
            <a:avLst/>
          </a:prstGeom>
          <a:solidFill>
            <a:srgbClr val="00695C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29584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575304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3" name="Text 31"/>
          <p:cNvSpPr/>
          <p:nvPr/>
        </p:nvSpPr>
        <p:spPr>
          <a:xfrm>
            <a:off x="365760" y="42428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Manuales 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73552" y="3529584"/>
            <a:ext cx="2743200" cy="1097280"/>
          </a:xfrm>
          <a:prstGeom prst="rect">
            <a:avLst/>
          </a:prstGeom>
          <a:solidFill>
            <a:srgbClr val="D4A017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73552" y="3529584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3273552" y="3575304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3273552" y="42428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81344" y="3529584"/>
            <a:ext cx="2743200" cy="1097280"/>
          </a:xfrm>
          <a:prstGeom prst="rect">
            <a:avLst/>
          </a:prstGeom>
          <a:solidFill>
            <a:srgbClr val="1B5E20">
              <a:alpha val="80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81344" y="3529584"/>
            <a:ext cx="27432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0" name="Text 38"/>
          <p:cNvSpPr/>
          <p:nvPr/>
        </p:nvSpPr>
        <p:spPr>
          <a:xfrm>
            <a:off x="6181344" y="3575304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6181344" y="42428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201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30352" y="5669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 funcional con recorrido de crecimiento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4114800" cy="43891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9601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Conclusiones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4672" y="148132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objetivos cumplidos</a:t>
            </a:r>
            <a:endParaRPr lang="en-US" sz="1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025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4672" y="197510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y desplegada en Vercel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96312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4672" y="24688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roles y seguridad robusto</a:t>
            </a:r>
            <a:endParaRPr lang="en-US" sz="12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9008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4672" y="296265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email completamente funcionales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83864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04672" y="345643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idiomas implementados con i18next</a:t>
            </a:r>
            <a:endParaRPr lang="en-US" sz="12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77640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04672" y="395020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responsive en todos los dispositivos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4709160" y="96012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4709160" y="960120"/>
            <a:ext cx="4114800" cy="43891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3" name="Text 15"/>
          <p:cNvSpPr/>
          <p:nvPr/>
        </p:nvSpPr>
        <p:spPr>
          <a:xfrm>
            <a:off x="4709160" y="9601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Trabajo Futuro</a:t>
            </a:r>
            <a:endParaRPr lang="en-US" sz="1400" dirty="0"/>
          </a:p>
        </p:txBody>
      </p:sp>
      <p:sp>
        <p:nvSpPr>
          <p:cNvPr id="24" name="Shape 16"/>
          <p:cNvSpPr/>
          <p:nvPr/>
        </p:nvSpPr>
        <p:spPr>
          <a:xfrm>
            <a:off x="4800600" y="1508760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25" name="Text 17"/>
          <p:cNvSpPr/>
          <p:nvPr/>
        </p:nvSpPr>
        <p:spPr>
          <a:xfrm>
            <a:off x="4800600" y="1508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6" name="Text 18"/>
          <p:cNvSpPr/>
          <p:nvPr/>
        </p:nvSpPr>
        <p:spPr>
          <a:xfrm>
            <a:off x="5230368" y="1508760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nativa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800600" y="2002536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28" name="Text 20"/>
          <p:cNvSpPr/>
          <p:nvPr/>
        </p:nvSpPr>
        <p:spPr>
          <a:xfrm>
            <a:off x="4800600" y="20025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1"/>
          <p:cNvSpPr/>
          <p:nvPr/>
        </p:nvSpPr>
        <p:spPr>
          <a:xfrm>
            <a:off x="5230368" y="2002536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Geolocalización de terrenos con mapas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4800600" y="2496312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31" name="Text 23"/>
          <p:cNvSpPr/>
          <p:nvPr/>
        </p:nvSpPr>
        <p:spPr>
          <a:xfrm>
            <a:off x="4800600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🌤️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5230368" y="2496312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meteorología integrado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800600" y="2990088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34" name="Text 26"/>
          <p:cNvSpPr/>
          <p:nvPr/>
        </p:nvSpPr>
        <p:spPr>
          <a:xfrm>
            <a:off x="4800600" y="2990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35" name="Text 27"/>
          <p:cNvSpPr/>
          <p:nvPr/>
        </p:nvSpPr>
        <p:spPr>
          <a:xfrm>
            <a:off x="5230368" y="29900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inventario y maquinaria</a:t>
            </a:r>
            <a:endParaRPr lang="en-US" sz="1200" dirty="0"/>
          </a:p>
        </p:txBody>
      </p:sp>
      <p:sp>
        <p:nvSpPr>
          <p:cNvPr id="36" name="Shape 28"/>
          <p:cNvSpPr/>
          <p:nvPr/>
        </p:nvSpPr>
        <p:spPr>
          <a:xfrm>
            <a:off x="4800600" y="3483864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37" name="Text 29"/>
          <p:cNvSpPr/>
          <p:nvPr/>
        </p:nvSpPr>
        <p:spPr>
          <a:xfrm>
            <a:off x="4800600" y="34838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5230368" y="3483864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de informes en PDF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4800600" y="3977640"/>
            <a:ext cx="3931920" cy="384048"/>
          </a:xfrm>
          <a:prstGeom prst="rect">
            <a:avLst/>
          </a:prstGeom>
          <a:solidFill>
            <a:srgbClr val="F9F6F0"/>
          </a:solidFill>
          <a:ln/>
        </p:spPr>
      </p:sp>
      <p:sp>
        <p:nvSpPr>
          <p:cNvPr id="40" name="Text 32"/>
          <p:cNvSpPr/>
          <p:nvPr/>
        </p:nvSpPr>
        <p:spPr>
          <a:xfrm>
            <a:off x="480060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🌡️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5230368" y="3977640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IoT agrícola (sensores)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B0A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914400" y="365760"/>
            <a:ext cx="7315200" cy="4297680"/>
          </a:xfrm>
          <a:prstGeom prst="rect">
            <a:avLst/>
          </a:prstGeom>
          <a:solidFill>
            <a:srgbClr val="000000">
              <a:alpha val="58000"/>
            </a:srgbClr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8" name="Text 5"/>
          <p:cNvSpPr/>
          <p:nvPr/>
        </p:nvSpPr>
        <p:spPr>
          <a:xfrm>
            <a:off x="914400" y="5029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 por su atención!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2286000" y="1371600"/>
            <a:ext cx="4572000" cy="45720"/>
          </a:xfrm>
          <a:prstGeom prst="rect">
            <a:avLst/>
          </a:prstGeom>
          <a:solidFill>
            <a:srgbClr val="D4A01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50876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3456432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Francisco Hurtado Pérez</a:t>
            </a:r>
            <a:endParaRPr lang="en-US" sz="13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IES Albarregas · Mérida (España)</a:t>
            </a:r>
            <a:endParaRPr lang="en-US" sz="13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CFGS DAW · 2024/2025 – 2025/2026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14400" y="4298207"/>
            <a:ext cx="2405575" cy="360045"/>
          </a:xfrm>
          <a:prstGeom prst="rect">
            <a:avLst/>
          </a:prstGeom>
          <a:solidFill>
            <a:srgbClr val="2E7D32">
              <a:alpha val="85000"/>
            </a:srgbClr>
          </a:solidFill>
          <a:ln/>
        </p:spPr>
      </p:sp>
      <p:sp>
        <p:nvSpPr>
          <p:cNvPr id="13" name="Text 9">
            <a:hlinkClick r:id="rId5"/>
          </p:cNvPr>
          <p:cNvSpPr/>
          <p:nvPr/>
        </p:nvSpPr>
        <p:spPr>
          <a:xfrm>
            <a:off x="759655" y="422153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u="sng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🌐  agrogestion-web.vercel.app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674996" y="4298208"/>
            <a:ext cx="2560320" cy="350637"/>
          </a:xfrm>
          <a:prstGeom prst="rect">
            <a:avLst/>
          </a:prstGeom>
          <a:solidFill>
            <a:srgbClr val="2E7D32">
              <a:alpha val="85000"/>
            </a:srgbClr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5" name="Text 11">
            <a:hlinkClick r:id="rId6"/>
          </p:cNvPr>
          <p:cNvSpPr/>
          <p:nvPr/>
        </p:nvSpPr>
        <p:spPr>
          <a:xfrm>
            <a:off x="5657849" y="42153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AAFFA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📂  github.com/Juanfrina/Agrogestion.Web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914400" y="482803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 ·  Sostenibilidad  ·  Productividad</a:t>
            </a:r>
            <a:endParaRPr lang="en-US" sz="1000" dirty="0"/>
          </a:p>
        </p:txBody>
      </p:sp>
      <p:pic>
        <p:nvPicPr>
          <p:cNvPr id="18" name="Image 2" descr="https://api.qrserver.com/v1/create-qr-code/?size=240x240&amp;data=https://agrogestion-web.vercel.app/">
            <a:extLst>
              <a:ext uri="{FF2B5EF4-FFF2-40B4-BE49-F238E27FC236}">
                <a16:creationId xmlns:a16="http://schemas.microsoft.com/office/drawing/2014/main" id="{BA8504BB-3DBB-2EEB-1468-539125B9E8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613" y="1511574"/>
            <a:ext cx="2217420" cy="2217420"/>
          </a:xfrm>
          <a:prstGeom prst="rect">
            <a:avLst/>
          </a:prstGeom>
        </p:spPr>
      </p:pic>
      <p:pic>
        <p:nvPicPr>
          <p:cNvPr id="19" name="Image 3" descr="https://api.qrserver.com/v1/create-qr-code/?size=240x240&amp;data=https://github.com/Juanfrina/Agrogestion.Web">
            <a:extLst>
              <a:ext uri="{FF2B5EF4-FFF2-40B4-BE49-F238E27FC236}">
                <a16:creationId xmlns:a16="http://schemas.microsoft.com/office/drawing/2014/main" id="{5983F711-A904-DDBC-BDC6-AD949E5AF3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299" y="1516497"/>
            <a:ext cx="2217421" cy="2217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1190</Words>
  <Application>Microsoft Office PowerPoint</Application>
  <PresentationFormat>Presentación en pantalla (16:9)</PresentationFormat>
  <Paragraphs>351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Agrogestión TFG DAW</dc:title>
  <dc:subject>PptxGenJS Presentation</dc:subject>
  <dc:creator>Juan Francisco Hurtado Pérez</dc:creator>
  <cp:lastModifiedBy>Juan Francisco H</cp:lastModifiedBy>
  <cp:revision>6</cp:revision>
  <dcterms:created xsi:type="dcterms:W3CDTF">2026-04-23T10:51:08Z</dcterms:created>
  <dcterms:modified xsi:type="dcterms:W3CDTF">2026-05-27T15:08:56Z</dcterms:modified>
</cp:coreProperties>
</file>